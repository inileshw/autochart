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120000">
            <a:off x="-914400" y="4114800"/>
            <a:ext cx="13716000" cy="10972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21120000">
            <a:off x="-914400" y="4754880"/>
            <a:ext cx="13716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solidFill>
            <a:srgbClr val="007A8A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>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AutoChart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9601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D4AF37"/>
                </a:solidFill>
                <a:latin typeface="Calibri"/>
              </a:rPr>
              <a:t>UK Hydrographic Office  ·  Geospatial Chart Comparison Platform</a:t>
            </a:r>
            <a:endParaRPr lang="en-US" sz="1800" b="0" i="0" dirty="0">
              <a:solidFill>
                <a:srgbClr val="D4AF37"/>
              </a:solidFill>
              <a:latin typeface="Calibri"/>
            </a:endParaRPr>
          </a:p>
          <a:p>
            <a:pPr algn="l"/>
            <a:endParaRPr lang="en-US" sz="1800" b="0" i="0" dirty="0">
              <a:solidFill>
                <a:srgbClr val="D4AF37"/>
              </a:solidFill>
              <a:latin typeface="Calibri"/>
            </a:endParaRPr>
          </a:p>
          <a:p>
            <a:pPr algn="l"/>
            <a:r>
              <a:rPr lang="en-GB" sz="1800" b="0" i="0" dirty="0">
                <a:solidFill>
                  <a:schemeClr val="bg1"/>
                </a:solidFill>
                <a:latin typeface="Calibri"/>
              </a:rPr>
              <a:t>NILESH WAIRAGADE (UKHO) </a:t>
            </a:r>
          </a:p>
          <a:p>
            <a:pPr algn="l"/>
            <a:r>
              <a:rPr lang="en-GB" sz="1800" b="0" i="0" dirty="0">
                <a:solidFill>
                  <a:schemeClr val="bg1"/>
                </a:solidFill>
                <a:latin typeface="Calibri"/>
              </a:rPr>
              <a:t>SAKIRAT USMAN (NHSBSA)</a:t>
            </a:r>
            <a:endParaRPr sz="18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EE"/>
                </a:solidFill>
                <a:latin typeface="Calibri"/>
              </a:rPr>
              <a:t>Project retrospective — what was built, how,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035040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>
                <a:solidFill>
                  <a:srgbClr val="D4AF37"/>
                </a:solidFill>
                <a:latin typeface="Calibri"/>
              </a:rPr>
              <a:t>202</a:t>
            </a:r>
            <a:r>
              <a:rPr lang="en-US" sz="1300" b="0" i="0" dirty="0">
                <a:solidFill>
                  <a:srgbClr val="D4AF37"/>
                </a:solidFill>
                <a:latin typeface="Calibri"/>
              </a:rPr>
              <a:t>6</a:t>
            </a:r>
            <a:endParaRPr sz="1300" b="0" i="0" dirty="0">
              <a:solidFill>
                <a:srgbClr val="D4AF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01 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475488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Navigation Chart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59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◆  Mariners need to know which new chart replaces their old one — and where coverage overlaps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18687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◆  Previously: manual</a:t>
            </a:r>
            <a:r>
              <a:rPr lang="en-US" sz="1200" dirty="0">
                <a:solidFill>
                  <a:srgbClr val="FFFFFF"/>
                </a:solidFill>
                <a:latin typeface="Calibri"/>
              </a:rPr>
              <a:t> and 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time-consuming comparison</a:t>
            </a: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 with no tool available.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No self-service tool existed for customers or analysts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52543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◆  Scale mismatches and partial overlaps were especially hard to reason about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669280" cy="47548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AutoChart — 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8483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✓  Instant chart lookup by number, name, title, or panel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59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Interactive Leaflet map showing old &amp; new polygons + intersection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18687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Natural-language chatbot that answers "what replaces chart 5011?"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85615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MCP / Agent interface for AI-assisted querying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9768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✓  REST API +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GeoJSON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export for downstream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02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Single-process design (ADR 0001) — one container, three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286000" cy="1463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Browser
(React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21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55657A"/>
                </a:solidFill>
                <a:latin typeface="Calibri"/>
              </a:rPr>
              <a:t>HTTP / WS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2487168"/>
            <a:ext cx="1005840" cy="7315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1554480"/>
            <a:ext cx="4754880" cy="4480560"/>
          </a:xfrm>
          <a:prstGeom prst="rect">
            <a:avLst/>
          </a:prstGeom>
          <a:solidFill>
            <a:srgbClr val="02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664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FastAPI  (Python 3.13)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24028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22585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 Routes /api/*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routes.py — 8 typed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78892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280720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MCP Server  /mcp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34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JSON-RPC 2.0 — 7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33756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33558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383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data.py  •  overlap.py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88620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39044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Security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319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API-key gate  •  CORS  •  X-Request-ID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443484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445312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Static SPA Mount  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4805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Serves built React bundle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498348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6200" y="5001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0292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Prometheus  •  OTEL  •  Sentry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  <a:latin typeface="Calibri"/>
              </a:rPr>
              <a:t>GeoJSON
Shapefiles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2514600"/>
            <a:ext cx="9144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64040" y="1828800"/>
            <a:ext cx="2377440" cy="1463040"/>
          </a:xfrm>
          <a:prstGeom prst="rect">
            <a:avLst/>
          </a:prstGeom>
          <a:solidFill>
            <a:srgbClr val="60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192024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GeoPandas
DataFrames
(LRU cached)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AI Agent
(MCP client)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78608" y="4114800"/>
            <a:ext cx="100584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64040" y="3749039"/>
            <a:ext cx="2377440" cy="1463040"/>
          </a:xfrm>
          <a:prstGeom prst="rect">
            <a:avLst/>
          </a:prstGeom>
          <a:solidFill>
            <a:srgbClr val="3B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38404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CCFF"/>
                </a:solidFill>
                <a:latin typeface="Calibri"/>
              </a:rPr>
              <a:t>Sentry
OTEL Collector
Prometheus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03 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484632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Python 3.13  (UV-managed deps)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FastAPI 0.116 + Uvicorn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GeoPandas 1.1.4 + Shapely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Matplotlib 3.11 (headless Agg)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Pydantic  —  schema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structlog  —  structured logging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371600"/>
            <a:ext cx="3566160" cy="4846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React 18.3 + Vite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Leaflet 1.9 + react-leaflet 4.2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web-vitals 4.2 (CLS/INP/LCP…)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ESLint 9 + Prettier 3.9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Vitest 2.1 + React Testing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Playwright 1.62 (E2E)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1371600"/>
            <a:ext cx="3566160" cy="4846320"/>
          </a:xfrm>
          <a:prstGeom prst="rect">
            <a:avLst/>
          </a:prstGeom>
          <a:solidFill>
            <a:srgbClr val="3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Infra &amp; 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Docker multi-stage (Node 22 → Py 3.13)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docker-compose  —  single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GitHub Actions CI (ubuntu-24.04)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Ruff  —  lint + format (Python)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mypy  —  type checking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pre-commit  —  local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04  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749039" cy="16916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💬  Natural-Language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POST /api/chat — infers chart_number / chart_name / panel_id from free text and returns human-readable prose via chart.answer()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1417320"/>
            <a:ext cx="3749039" cy="16916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399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🗺  Interactive Map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Leaflet SPA shows old panels (navy), new panels (teal), and intersection polygons (gold). Fetches /api/overlap-geojson on each lookup.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8" y="1417320"/>
            <a:ext cx="3749039" cy="1691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8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🤖  MCP Agent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8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JSON-RPC 2.0 at /mcp — 7 tools (chart.lookup, chart.answer, chart.overlap, chart.compare, chart.overlap_geojson, chart.list_panels, chart.get_data).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3749039" cy="1691640"/>
          </a:xfrm>
          <a:prstGeom prst="rect">
            <a:avLst/>
          </a:prstGeom>
          <a:solidFill>
            <a:srgbClr val="0A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📊  Overlap Metrics &amp; 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POST /api/overlap returns base64 matplotlib PNG + overlap area %. Geometry computed in EPSG:27700 (metric BNG), returned in EPSG:4326.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39" y="3200400"/>
            <a:ext cx="3749039" cy="1691640"/>
          </a:xfrm>
          <a:prstGeom prst="rect">
            <a:avLst/>
          </a:prstGeom>
          <a:solidFill>
            <a:srgbClr val="5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🔍  Multi-Mode Chart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Four modes: chart_number (digit extract), chart_name/chart_title (case-insensitive substring), panel_id (exact). Covers old &amp; new datasets simultaneously.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3200400"/>
            <a:ext cx="3749039" cy="1691640"/>
          </a:xfrm>
          <a:prstGeom prst="rect">
            <a:avLst/>
          </a:prstGeom>
          <a:solidFill>
            <a:srgbClr val="50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8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📡  GeoJSON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8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GET /api/data, /api/panels, POST /api/overlap-geojson — programmatic access to chart geometry and intersection data with max_scale filtering.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05 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822" y="1468918"/>
            <a:ext cx="3749039" cy="3090672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8616" y="1618821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Calibri"/>
              </a:rPr>
              <a:t>🔒  API Key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3941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Calibri"/>
              </a:rPr>
              <a:t>🔒  CORS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7" y="1632537"/>
            <a:ext cx="3428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79" y="229514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Calibri"/>
              </a:rPr>
              <a:t>🔒  Docker Hardening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7" y="267919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Calibri"/>
              </a:rPr>
              <a:t>🔒  Browser &amp; SPA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01425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Calibri"/>
              </a:rPr>
              <a:t>🔒  Request Integrity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8" y="3355515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Calibri"/>
              </a:rPr>
              <a:t>🔒  Pre-commit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06  Observability  (ADR 0003)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Three narrowly-scoped libraries — env-gated — zero cost when unconfigured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749039" cy="1783080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📈  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AUTOCHART_METRICS=1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871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GET /metrics — text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340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Request counts, latency histograms, status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9809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Excludes /metrics, /livez, /healthz from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2278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prometheus-fastapi-instrumentator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1737360"/>
            <a:ext cx="3749039" cy="1783080"/>
          </a:xfrm>
          <a:prstGeom prst="rect">
            <a:avLst/>
          </a:prstGeom>
          <a:solidFill>
            <a:srgbClr val="425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🔭 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OTEL_EXPORTER_OTLP_ENDPOINT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4871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OTLP/HTTP exporter (opt-in)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7340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FastAPI auto-instrumentation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29809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Service name: OTEL_SERVICE_NAME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278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Traces sent to any OTEL Collector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737360"/>
            <a:ext cx="3749039" cy="1783080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8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🚨  Sentry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8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SENTRY_DSN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0" y="24871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Unhandled exceptions captured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0" y="27340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Slow transaction traces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0" y="29809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SENTRY_TRACES_SAMPLE_RATE (default: 0.0)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0" y="32278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Environment label: SENTRY_ENVIRONMENT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3749039" cy="1783080"/>
          </a:xfrm>
          <a:prstGeom prst="rect">
            <a:avLst/>
          </a:prstGeom>
          <a:solidFill>
            <a:srgbClr val="00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⚡  Web Vitals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AAFFCC"/>
                </a:solidFill>
                <a:latin typeface="Calibri"/>
              </a:rPr>
              <a:t>POST /</a:t>
            </a:r>
            <a:r>
              <a:rPr sz="950" b="0" i="1" dirty="0" err="1">
                <a:solidFill>
                  <a:srgbClr val="AAFFCC"/>
                </a:solidFill>
                <a:latin typeface="Calibri"/>
              </a:rPr>
              <a:t>api</a:t>
            </a:r>
            <a:r>
              <a:rPr sz="950" b="0" i="1" dirty="0">
                <a:solidFill>
                  <a:srgbClr val="AAFFCC"/>
                </a:solidFill>
                <a:latin typeface="Calibri"/>
              </a:rPr>
              <a:t>/telemetry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3159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CLS · INP · LCP · FCP · TTFB tracked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5628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sendBeacon → structured JSON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48097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Real-user perf &amp; accessibility signal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0566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web-vitals 4.2 library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9" y="3566160"/>
            <a:ext cx="3749039" cy="1783080"/>
          </a:xfrm>
          <a:prstGeom prst="rect">
            <a:avLst/>
          </a:prstGeom>
          <a:solidFill>
            <a:srgbClr val="3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399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🟢  Health Probes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/livez  &amp;  /healthz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1" y="43159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/livez — cheap liveness (always 200)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1" y="45628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/healthz — readiness, verifies geodata loadable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1" y="48097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Returns 'ready' or 'degraded'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1" y="50566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k8s / Docker health-check compatible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3566160"/>
            <a:ext cx="3749039" cy="1783080"/>
          </a:xfrm>
          <a:prstGeom prst="rect">
            <a:avLst/>
          </a:prstGeom>
          <a:solidFill>
            <a:srgbClr val="4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18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📋  Structured Logging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AUTOCHART_LOG_JSON=1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0" y="43159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structlog 26.1 — JSON or console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0" y="45628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Log level: AUTOCHART_LOG_LEVEL (INFO)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0" y="48097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ISO timestamp + context vars in every 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0" y="50566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X-Request-ID injected into log 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07  CI/CD &amp;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291840" cy="256032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Backend
(Python 3.13)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Ruff lint +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mypy type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pytest +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75%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3291840" cy="2560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Frontend
(Node 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ESLint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Prettier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Vitest (60% cov)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Vite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554480"/>
            <a:ext cx="3291840" cy="2560320"/>
          </a:xfrm>
          <a:prstGeom prst="rect">
            <a:avLst/>
          </a:prstGeom>
          <a:solidFill>
            <a:srgbClr val="50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Docker
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Multi-stage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GHA layer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Tagged autochart:ci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Blocked on prev. jobs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43400"/>
            <a:ext cx="11430000" cy="21031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407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Test Coverage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test_data, test_api, test_mcp, test_security, test_overlap, test_observability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75% overall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48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148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Vitest + RTL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ChatBot, MapView, MCPChat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48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60% lines / 55% 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495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495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495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chatbot.spec.js — home, agent chatbot, REST + MCP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4955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Chrome Desktop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08 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31089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Multi-Stage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299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Stage 1: Node 22-alpine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npm ci  +  npm run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Outputs /frontend/dist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Stage 2: Python 3.13-slim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8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Install libexpat1 + curl (runtime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Create non-root user 'app'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UV installs Python deps (prod-only, no dev)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159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COPY --from=web /frontend/dist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085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Port 8000  •  CMD: uv run uvicorn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5760720" cy="31089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5270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85C"/>
                </a:solidFill>
                <a:latin typeface="Calibri"/>
              </a:rPr>
              <a:t>docker-compose.yml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02996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image: autochart:local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591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ports: 8000:8000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883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read_only: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01752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tmpfs: /tmp  (writable ephemeral zone)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34670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restart: unless-stopped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7588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healthcheck: curl -fsS /api/health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0507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AUTOCHART_HOST: 0.0.0.0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3342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AUTOCHART_ALLOWED_ORIGINS: configurable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11384280" cy="178308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773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Key Environment Variables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66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AUTOCHART_API_KEY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166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166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Enables /api and /mcp key-gating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AUTOCHART_LOG_JSON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440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5440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JSON vs console log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AUTOCHART_METRICS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5715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Expose Prometheus /metrics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989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OTEL_EXPORTER_OTLP_ENDPOINT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989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5989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OpenTelemetry collector 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SENTRY_DSN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6263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6263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Sentry error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SENTRY_TRACES_SAMPLE_RATE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Trace sampling (0–1)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300000">
            <a:off x="-914400" y="3474720"/>
            <a:ext cx="13716000" cy="12801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21300000">
            <a:off x="-914400" y="4206240"/>
            <a:ext cx="13716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🗺️ Map +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Interactive Leaflet map + NL chatbot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🤖 MCP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7-tool JSON-RPC 2.0 AI interface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🔒 Secure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API key, CORS, Docker hardening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📈 Full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Prometheus · OTEL · Sentry · Web Vitals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✅ CI/CD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Lint · Type · Test · Build · 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📦 One container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FastAPI serves SPA + REST +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4AF37"/>
                </a:solidFill>
                <a:latin typeface="Calibri"/>
              </a:rPr>
              <a:t>AutoChart — from manual shapefile comparison to a full-stack,
observability-ready geospatial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52d287b-af50-4fcf-9040-106ecb50d969}" enabled="1" method="Standard" siteId="{cf6d0482-86b1-4f88-8c0c-3b4de4cb402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1364</Words>
  <Application>Microsoft Office PowerPoint</Application>
  <PresentationFormat>Custom</PresentationFormat>
  <Paragraphs>221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Sakirat Usman</cp:lastModifiedBy>
  <cp:revision>4</cp:revision>
  <dcterms:created xsi:type="dcterms:W3CDTF">2013-01-27T09:14:16Z</dcterms:created>
  <dcterms:modified xsi:type="dcterms:W3CDTF">2026-08-06T13:06:30Z</dcterms:modified>
  <cp:category/>
</cp:coreProperties>
</file>