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70" r:id="rId12"/>
    <p:sldId id="266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9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02" y="3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Nilesh &amp; Sakirat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21120000">
            <a:off x="-914400" y="4114800"/>
            <a:ext cx="13716000" cy="10972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21120000">
            <a:off x="-914400" y="4754880"/>
            <a:ext cx="13716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solidFill>
            <a:srgbClr val="007A8A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Segoe UI Emoji"/>
              </a:rPr>
              <a:t>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57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AutoChart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25880"/>
            <a:ext cx="9601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D4AF37"/>
                </a:solidFill>
                <a:latin typeface="Calibri"/>
              </a:rPr>
              <a:t>UK Hydrographic Office  ·  Geospatial Chart Comparison Platform</a:t>
            </a:r>
            <a:endParaRPr lang="en-US" sz="1800" b="0" i="0" dirty="0">
              <a:solidFill>
                <a:srgbClr val="D4AF37"/>
              </a:solidFill>
              <a:latin typeface="Calibri"/>
            </a:endParaRPr>
          </a:p>
          <a:p>
            <a:pPr algn="l"/>
            <a:endParaRPr lang="en-US" sz="1800" b="0" i="0" dirty="0">
              <a:solidFill>
                <a:srgbClr val="D4AF37"/>
              </a:solidFill>
              <a:latin typeface="Calibri"/>
            </a:endParaRPr>
          </a:p>
          <a:p>
            <a:pPr algn="l"/>
            <a:endParaRPr lang="en-US" sz="1800" b="0" i="0" dirty="0">
              <a:solidFill>
                <a:srgbClr val="D4AF37"/>
              </a:solidFill>
              <a:latin typeface="Calibri"/>
            </a:endParaRPr>
          </a:p>
          <a:p>
            <a:pPr algn="l"/>
            <a:r>
              <a:rPr lang="en-GB" sz="1800" b="0" i="0" dirty="0">
                <a:solidFill>
                  <a:schemeClr val="bg1"/>
                </a:solidFill>
                <a:latin typeface="Calibri"/>
              </a:rPr>
              <a:t>NILESH WAIRAGADE (UKHO) </a:t>
            </a:r>
          </a:p>
          <a:p>
            <a:pPr algn="l"/>
            <a:r>
              <a:rPr lang="en-GB" sz="1800" b="0" i="0" dirty="0">
                <a:solidFill>
                  <a:schemeClr val="bg1"/>
                </a:solidFill>
                <a:latin typeface="Calibri"/>
              </a:rPr>
              <a:t>SAKIRAT USMAN (NHSBSA)</a:t>
            </a:r>
          </a:p>
          <a:p>
            <a:pPr algn="l"/>
            <a:r>
              <a:rPr lang="en-GB" dirty="0">
                <a:solidFill>
                  <a:schemeClr val="bg1"/>
                </a:solidFill>
                <a:latin typeface="Calibri"/>
              </a:rPr>
              <a:t>+</a:t>
            </a:r>
          </a:p>
          <a:p>
            <a:pPr algn="l"/>
            <a:r>
              <a:rPr lang="en-GB" sz="1800" b="0" i="0" dirty="0">
                <a:solidFill>
                  <a:schemeClr val="bg1"/>
                </a:solidFill>
                <a:latin typeface="Calibri"/>
              </a:rPr>
              <a:t>UKHO - AutoChart Team</a:t>
            </a:r>
            <a:endParaRPr sz="18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DEE"/>
                </a:solidFill>
                <a:latin typeface="Calibri"/>
              </a:rPr>
              <a:t>Project retrospective — what was built, how,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035040"/>
            <a:ext cx="1097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dirty="0">
                <a:solidFill>
                  <a:srgbClr val="D4AF37"/>
                </a:solidFill>
                <a:latin typeface="Calibri"/>
              </a:rPr>
              <a:t>202</a:t>
            </a:r>
            <a:r>
              <a:rPr lang="en-US" sz="1300" b="0" i="0" dirty="0">
                <a:solidFill>
                  <a:srgbClr val="D4AF37"/>
                </a:solidFill>
                <a:latin typeface="Calibri"/>
              </a:rPr>
              <a:t>6</a:t>
            </a:r>
            <a:endParaRPr sz="1300" b="0" i="0" dirty="0">
              <a:solidFill>
                <a:srgbClr val="D4AF37"/>
              </a:solidFill>
              <a:latin typeface="Calibri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D6C0F24-9FB2-F20B-C74D-294F936399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76157" y="149928"/>
            <a:ext cx="3038475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01 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03520" cy="475488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D4AF37"/>
                </a:solidFill>
                <a:latin typeface="Calibri"/>
              </a:rPr>
              <a:t>Navigation Chart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945" y="2084831"/>
            <a:ext cx="4937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◆  Mariners</a:t>
            </a:r>
            <a:r>
              <a:rPr lang="en-GB" sz="1600" b="0" i="0" dirty="0">
                <a:solidFill>
                  <a:srgbClr val="FFFFFF"/>
                </a:solidFill>
                <a:latin typeface="Calibri"/>
              </a:rPr>
              <a:t> / Fishermen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need to know which new chart replaces their old one — and where coverage overlaps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25618"/>
            <a:ext cx="4937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◆  Previously: manual</a:t>
            </a:r>
            <a:r>
              <a:rPr lang="en-US" sz="1600" dirty="0">
                <a:solidFill>
                  <a:srgbClr val="FFFFFF"/>
                </a:solidFill>
                <a:latin typeface="Calibri"/>
              </a:rPr>
              <a:t> and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time-consuming comparison</a:t>
            </a:r>
            <a:r>
              <a:rPr lang="en-US" sz="1600" b="0" i="0" dirty="0">
                <a:solidFill>
                  <a:srgbClr val="FFFFFF"/>
                </a:solidFill>
                <a:latin typeface="Calibri"/>
              </a:rPr>
              <a:t> with no tool available.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5945" y="3832382"/>
            <a:ext cx="4937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◆  No self-service tool existed for customers or analysts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5945" y="4540102"/>
            <a:ext cx="4937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◆  Scale mismatches and partial overlaps were especially hard to reason about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5669280" cy="47548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572768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AutoChart — 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84831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✓  Instant chart lookup by number, name, title, or panel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51759"/>
            <a:ext cx="530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✓  Interactive Leaflet map showing old &amp; new polygons + intersection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18687"/>
            <a:ext cx="530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✓  Natural-language chatbot that answers "what replaces chart 5011?"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85615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✓  MCP / Agent interface for AI-assisted querying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297681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✓  REST API +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GeoJSON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export for downstream tools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655624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CC"/>
                </a:solidFill>
                <a:latin typeface="Calibri"/>
              </a:rPr>
              <a:t>AutoChart</a:t>
            </a:r>
            <a:r>
              <a:rPr sz="900" b="0" i="0" dirty="0">
                <a:solidFill>
                  <a:srgbClr val="AABBCC"/>
                </a:solidFill>
                <a:latin typeface="Calibri"/>
              </a:rPr>
              <a:t> · UKHO · 202</a:t>
            </a:r>
            <a:r>
              <a:rPr lang="en-US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091672" y="6556248"/>
            <a:ext cx="1005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900" b="0" i="0">
                <a:solidFill>
                  <a:srgbClr val="AABBCC"/>
                </a:solidFill>
                <a:latin typeface="Calibri"/>
              </a:rPr>
              <a:t>2</a:t>
            </a:r>
            <a:r>
              <a:rPr sz="900" b="0" i="0">
                <a:solidFill>
                  <a:srgbClr val="AABBCC"/>
                </a:solidFill>
                <a:latin typeface="Calibri"/>
              </a:rPr>
              <a:t> / 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2AFCE9-7389-1336-024E-4081B9BF3138}"/>
              </a:ext>
            </a:extLst>
          </p:cNvPr>
          <p:cNvSpPr txBox="1"/>
          <p:nvPr/>
        </p:nvSpPr>
        <p:spPr>
          <a:xfrm>
            <a:off x="6263640" y="4832490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✓  </a:t>
            </a:r>
            <a:r>
              <a:rPr lang="en-GB" sz="1600" b="0" i="0" dirty="0">
                <a:solidFill>
                  <a:srgbClr val="FFFFFF"/>
                </a:solidFill>
                <a:latin typeface="Calibri"/>
              </a:rPr>
              <a:t>WCAG 2.2 Compliant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02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  <a:latin typeface="Calibri"/>
              </a:rPr>
              <a:t>Single-process design (ADR 0001) — one container, three interfaces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2286000" cy="1463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9659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Browser
(React SPA)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2199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55657A"/>
                </a:solidFill>
                <a:latin typeface="Calibri"/>
              </a:rPr>
              <a:t>HTTP / WS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78608" y="2487168"/>
            <a:ext cx="1005840" cy="7315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0" y="1554480"/>
            <a:ext cx="4754880" cy="4480560"/>
          </a:xfrm>
          <a:prstGeom prst="rect">
            <a:avLst/>
          </a:prstGeom>
          <a:solidFill>
            <a:srgbClr val="02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16642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F37"/>
                </a:solidFill>
                <a:latin typeface="Calibri"/>
              </a:rPr>
              <a:t>FastAPI  (Python 3.13)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224028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86200" y="225856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REST Routes /api/*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8600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routes.py — 8 typed endpoints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278892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6200" y="280720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MCP Server  /mcp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8346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JSON-RPC 2.0 — 7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0" y="333756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86200" y="335584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Service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3832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data.py  •  overlap.py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60" y="388620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86200" y="390448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Security Middleware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319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API-key gate  •  CORS  •  X-Request-ID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443484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86200" y="445312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Static SPA Mount  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48056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Serves built React bundle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498348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86200" y="500176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02920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Prometheus  •  OTEL  •  Sentry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19202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A"/>
                </a:solidFill>
                <a:latin typeface="Calibri"/>
              </a:rPr>
              <a:t>GeoJSON
Shapefiles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58200" y="2514600"/>
            <a:ext cx="9144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464040" y="1828800"/>
            <a:ext cx="2377440" cy="1463040"/>
          </a:xfrm>
          <a:prstGeom prst="rect">
            <a:avLst/>
          </a:prstGeom>
          <a:solidFill>
            <a:srgbClr val="604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0" y="192024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F37"/>
                </a:solidFill>
                <a:latin typeface="Calibri"/>
              </a:rPr>
              <a:t>GeoPandas
DataFrames
(LRU cached)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  <a:latin typeface="Calibri"/>
              </a:rPr>
              <a:t>AI Agent
(MCP client)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78608" y="4114800"/>
            <a:ext cx="100584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464040" y="3749039"/>
            <a:ext cx="2377440" cy="1463040"/>
          </a:xfrm>
          <a:prstGeom prst="rect">
            <a:avLst/>
          </a:prstGeom>
          <a:solidFill>
            <a:srgbClr val="3B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09760" y="384048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CCFF"/>
                </a:solidFill>
                <a:latin typeface="Calibri"/>
              </a:rPr>
              <a:t>Sentry
OTEL Collector
Prometheus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655624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CC"/>
                </a:solidFill>
                <a:latin typeface="Calibri"/>
              </a:rPr>
              <a:t>AutoChart</a:t>
            </a:r>
            <a:r>
              <a:rPr sz="900" b="0" i="0" dirty="0">
                <a:solidFill>
                  <a:srgbClr val="AABBCC"/>
                </a:solidFill>
                <a:latin typeface="Calibri"/>
              </a:rPr>
              <a:t> · UKHO · 202</a:t>
            </a:r>
            <a:r>
              <a:rPr lang="en-US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091672" y="6556248"/>
            <a:ext cx="1005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900" b="0" i="0">
                <a:solidFill>
                  <a:srgbClr val="AABBCC"/>
                </a:solidFill>
                <a:latin typeface="Calibri"/>
              </a:rPr>
              <a:t>3</a:t>
            </a:r>
            <a:r>
              <a:rPr sz="900" b="0" i="0">
                <a:solidFill>
                  <a:srgbClr val="AABBCC"/>
                </a:solidFill>
                <a:latin typeface="Calibri"/>
              </a:rPr>
              <a:t>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03 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484632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F37"/>
                </a:solidFill>
                <a:latin typeface="Calibri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Python 3.13  (UV-managed deps)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FastAPI 0.116 + Uvicorn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GeoPandas 1.1.4 + Shapely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Matplotlib 3.11 (headless Agg)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5196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Pydantic  —  schema &amp;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006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structlog  —  structured logging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371600"/>
            <a:ext cx="3566160" cy="4846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4813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F37"/>
                </a:solidFill>
                <a:latin typeface="Calibri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0574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React 18.3 + Vite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60604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Leaflet 1.9 + react-leaflet 4.2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15468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web-vitals 4.2 (CLS/INP/LCP…)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7033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ESLint 9 + Prettier 3.9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25196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Vitest 2.1 + React Testing Library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8006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Playwright 1.62 (E2E)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1371600"/>
            <a:ext cx="3566160" cy="4846320"/>
          </a:xfrm>
          <a:prstGeom prst="rect">
            <a:avLst/>
          </a:prstGeom>
          <a:solidFill>
            <a:srgbClr val="3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92440" y="14813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F37"/>
                </a:solidFill>
                <a:latin typeface="Calibri"/>
              </a:rPr>
              <a:t>Infra &amp; Tooling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0574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Docker multi-stage (Node 22 → Py 3.13)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60604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docker-compose  —  single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15468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GitHub Actions CI (ubuntu-24.04)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7033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Ruff  —  lint + format (Python)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25196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mypy  —  type checking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8006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pre-commit  —  local gate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655624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CC"/>
                </a:solidFill>
                <a:latin typeface="Calibri"/>
              </a:rPr>
              <a:t>AutoChart</a:t>
            </a:r>
            <a:r>
              <a:rPr sz="900" b="0" i="0" dirty="0">
                <a:solidFill>
                  <a:srgbClr val="AABBCC"/>
                </a:solidFill>
                <a:latin typeface="Calibri"/>
              </a:rPr>
              <a:t> · UKHO · 202</a:t>
            </a:r>
            <a:r>
              <a:rPr lang="en-US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091672" y="6556248"/>
            <a:ext cx="1005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900" b="0" i="0">
                <a:solidFill>
                  <a:srgbClr val="AABBCC"/>
                </a:solidFill>
                <a:latin typeface="Calibri"/>
              </a:rPr>
              <a:t>4</a:t>
            </a:r>
            <a:r>
              <a:rPr sz="900" b="0" i="0">
                <a:solidFill>
                  <a:srgbClr val="AABBCC"/>
                </a:solidFill>
                <a:latin typeface="Calibri"/>
              </a:rPr>
              <a:t>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04  Core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3749039" cy="16916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💬  Natural-Language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4767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  <a:latin typeface="Calibri"/>
              </a:rPr>
              <a:t>POST /</a:t>
            </a:r>
            <a:r>
              <a:rPr sz="1050" b="0" i="0" dirty="0" err="1">
                <a:solidFill>
                  <a:srgbClr val="FFFFFF"/>
                </a:solidFill>
                <a:latin typeface="Calibri"/>
              </a:rPr>
              <a:t>api</a:t>
            </a:r>
            <a:r>
              <a:rPr sz="1050" b="0" i="0" dirty="0">
                <a:solidFill>
                  <a:srgbClr val="FFFFFF"/>
                </a:solidFill>
                <a:latin typeface="Calibri"/>
              </a:rPr>
              <a:t>/chat — infers </a:t>
            </a:r>
            <a:r>
              <a:rPr sz="1050" b="0" i="0" dirty="0" err="1">
                <a:solidFill>
                  <a:srgbClr val="FFFFFF"/>
                </a:solidFill>
                <a:latin typeface="Calibri"/>
              </a:rPr>
              <a:t>chart_number</a:t>
            </a:r>
            <a:r>
              <a:rPr sz="1050" b="0" i="0" dirty="0">
                <a:solidFill>
                  <a:srgbClr val="FFFFFF"/>
                </a:solidFill>
                <a:latin typeface="Calibri"/>
              </a:rPr>
              <a:t> / </a:t>
            </a:r>
            <a:r>
              <a:rPr sz="1050" b="0" i="0" dirty="0" err="1">
                <a:solidFill>
                  <a:srgbClr val="FFFFFF"/>
                </a:solidFill>
                <a:latin typeface="Calibri"/>
              </a:rPr>
              <a:t>chart_name</a:t>
            </a:r>
            <a:r>
              <a:rPr sz="1050" b="0" i="0" dirty="0">
                <a:solidFill>
                  <a:srgbClr val="FFFFFF"/>
                </a:solidFill>
                <a:latin typeface="Calibri"/>
              </a:rPr>
              <a:t> / </a:t>
            </a:r>
            <a:r>
              <a:rPr sz="1050" b="0" i="0" dirty="0" err="1">
                <a:solidFill>
                  <a:srgbClr val="FFFFFF"/>
                </a:solidFill>
                <a:latin typeface="Calibri"/>
              </a:rPr>
              <a:t>panel_id</a:t>
            </a:r>
            <a:r>
              <a:rPr sz="1050" b="0" i="0" dirty="0">
                <a:solidFill>
                  <a:srgbClr val="FFFFFF"/>
                </a:solidFill>
                <a:latin typeface="Calibri"/>
              </a:rPr>
              <a:t> from free text and returns human-readable prose via </a:t>
            </a:r>
            <a:r>
              <a:rPr sz="1050" b="0" i="0" dirty="0" err="1">
                <a:solidFill>
                  <a:srgbClr val="FFFFFF"/>
                </a:solidFill>
                <a:latin typeface="Calibri"/>
              </a:rPr>
              <a:t>chart.answer</a:t>
            </a:r>
            <a:r>
              <a:rPr sz="1050" b="0" i="0" dirty="0">
                <a:solidFill>
                  <a:srgbClr val="FFFFFF"/>
                </a:solidFill>
                <a:latin typeface="Calibri"/>
              </a:rPr>
              <a:t>()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39" y="1417320"/>
            <a:ext cx="3749039" cy="16916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399" y="150876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🗺  Interactive Map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399" y="194767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Leaflet SPA shows old panels (navy), new panels (teal), and intersection polygons (gold). Fetches /api/overlap-geojson on each lookup.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8" y="1417320"/>
            <a:ext cx="3749039" cy="169164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18" y="150876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🤖  MCP Agent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8" y="194767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JSON-RPC 2.0 at /mcp — 7 tools (chart.lookup, chart.answer, chart.overlap, chart.compare, chart.overlap_geojson, chart.list_panels, chart.get_data).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3749039" cy="1691640"/>
          </a:xfrm>
          <a:prstGeom prst="rect">
            <a:avLst/>
          </a:prstGeom>
          <a:solidFill>
            <a:srgbClr val="0A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2918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📊  Overlap Metrics &amp; 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73075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POST /api/overlap returns base64 matplotlib PNG + overlap area %. Geometry computed in EPSG:27700 (metric BNG), returned in EPSG:4326.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39" y="3200400"/>
            <a:ext cx="3749039" cy="1691640"/>
          </a:xfrm>
          <a:prstGeom prst="rect">
            <a:avLst/>
          </a:prstGeom>
          <a:solidFill>
            <a:srgbClr val="50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399" y="32918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🔍  Multi-Mode Chart Lookup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373075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Four modes: chart_number (digit extract), chart_name/chart_title (case-insensitive substring), panel_id (exact). Covers old &amp; new datasets simultaneously.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8" y="3200400"/>
            <a:ext cx="3749039" cy="1691640"/>
          </a:xfrm>
          <a:prstGeom prst="rect">
            <a:avLst/>
          </a:prstGeom>
          <a:solidFill>
            <a:srgbClr val="501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18" y="32918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📡  GeoJSON REST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8" y="373075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GET /api/data, /api/panels, POST /api/overlap-geojson — programmatic access to chart geometry and intersection data with max_scale filtering.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655624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AutoChart · UKHO · </a:t>
            </a:r>
            <a:r>
              <a:rPr lang="en-GB" sz="900" b="0" i="0">
                <a:solidFill>
                  <a:srgbClr val="AABBCC"/>
                </a:solidFill>
                <a:latin typeface="Calibri"/>
              </a:rPr>
              <a:t>2026</a:t>
            </a:r>
            <a:endParaRPr sz="900" b="0" i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091672" y="6556248"/>
            <a:ext cx="1005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900" b="0" i="0">
                <a:solidFill>
                  <a:srgbClr val="AABBCC"/>
                </a:solidFill>
                <a:latin typeface="Calibri"/>
              </a:rPr>
              <a:t>5</a:t>
            </a:r>
            <a:r>
              <a:rPr sz="900" b="0" i="0">
                <a:solidFill>
                  <a:srgbClr val="AABBCC"/>
                </a:solidFill>
                <a:latin typeface="Calibri"/>
              </a:rPr>
              <a:t>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  <a:latin typeface="Calibri"/>
              </a:rPr>
              <a:t>05 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1481328"/>
            <a:ext cx="11594592" cy="475488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D4AF37"/>
                </a:solidFill>
                <a:latin typeface="Calibri"/>
              </a:rPr>
              <a:t>🔒</a:t>
            </a:r>
            <a:r>
              <a:rPr lang="en-GB" sz="1600" b="1" i="0">
                <a:solidFill>
                  <a:srgbClr val="D4AF37"/>
                </a:solidFill>
                <a:latin typeface="Calibri"/>
              </a:rPr>
              <a:t>  API Key Middleware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783080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D4AF37"/>
                </a:solidFill>
                <a:latin typeface="Calibri"/>
              </a:rPr>
              <a:t>🔒  CORS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182112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D4AF37"/>
                </a:solidFill>
                <a:latin typeface="Calibri"/>
              </a:rPr>
              <a:t>🔒  Docker Hardening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3182112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D4AF37"/>
                </a:solidFill>
                <a:latin typeface="Calibri"/>
              </a:rPr>
              <a:t>🔒  Browser &amp; SPA Safety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581144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D4AF37"/>
                </a:solidFill>
                <a:latin typeface="Calibri"/>
              </a:rPr>
              <a:t>🔒  Request Integrity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4581144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D4AF37"/>
                </a:solidFill>
                <a:latin typeface="Calibri"/>
              </a:rPr>
              <a:t>🔒  Pre-commit Gates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655624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CC"/>
                </a:solidFill>
                <a:latin typeface="Calibri"/>
              </a:rPr>
              <a:t>AutoChart</a:t>
            </a:r>
            <a:r>
              <a:rPr sz="900" b="0" i="0" dirty="0">
                <a:solidFill>
                  <a:srgbClr val="AABBCC"/>
                </a:solidFill>
                <a:latin typeface="Calibri"/>
              </a:rPr>
              <a:t> · UKHO · 202</a:t>
            </a:r>
            <a:r>
              <a:rPr lang="en-US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091672" y="6556248"/>
            <a:ext cx="1005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900" b="0" i="0">
                <a:solidFill>
                  <a:srgbClr val="AABBCC"/>
                </a:solidFill>
                <a:latin typeface="Calibri"/>
              </a:rPr>
              <a:t>6</a:t>
            </a:r>
            <a:r>
              <a:rPr sz="900" b="0" i="0">
                <a:solidFill>
                  <a:srgbClr val="AABBCC"/>
                </a:solidFill>
                <a:latin typeface="Calibri"/>
              </a:rPr>
              <a:t> / 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2240280"/>
            <a:ext cx="4983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Optional API-key gating protects REST and MCP endpoints.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2240280"/>
            <a:ext cx="4983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Configurable allowed origins restrict browser access.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3639312"/>
            <a:ext cx="4983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Non-root runtime, read-only filesystem and tmpfs for /tmp.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9632" y="3639312"/>
            <a:ext cx="4983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FastAPI serves the SPA with same-origin and CORS controls.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038344"/>
            <a:ext cx="4983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X-Request-ID enables consistent request correlation.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9632" y="5038344"/>
            <a:ext cx="4983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Ruff, mypy and formatting checks run before each commit.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06  Observability  (ADR 0003)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  <a:latin typeface="Calibri"/>
              </a:rPr>
              <a:t>Three narrowly-scoped libraries — env-gated — zero cost when unconfigured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3749039" cy="1783080"/>
          </a:xfrm>
          <a:prstGeom prst="rect">
            <a:avLst/>
          </a:prstGeom>
          <a:solidFill>
            <a:srgbClr val="E65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8105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📈  Prometheus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762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 dirty="0">
                <a:solidFill>
                  <a:srgbClr val="AAFFCC"/>
                </a:solidFill>
                <a:latin typeface="Calibri"/>
              </a:rPr>
              <a:t>AUTOCHART_METRICS=1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39" y="1737360"/>
            <a:ext cx="3749039" cy="1783080"/>
          </a:xfrm>
          <a:prstGeom prst="rect">
            <a:avLst/>
          </a:prstGeom>
          <a:solidFill>
            <a:srgbClr val="425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399" y="18105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🔭  OpenTelemetry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21762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FFCC"/>
                </a:solidFill>
                <a:latin typeface="Calibri"/>
              </a:rPr>
              <a:t>OTEL_EXPORTER_OTLP_ENDPOINT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8" y="1737360"/>
            <a:ext cx="3749039" cy="1783080"/>
          </a:xfrm>
          <a:prstGeom prst="rect">
            <a:avLst/>
          </a:prstGeom>
          <a:solidFill>
            <a:srgbClr val="3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18" y="18105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🚨  Sentry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8" y="21762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FFCC"/>
                </a:solidFill>
                <a:latin typeface="Calibri"/>
              </a:rPr>
              <a:t>SENTRY_DSN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566160"/>
            <a:ext cx="3749039" cy="1783080"/>
          </a:xfrm>
          <a:prstGeom prst="rect">
            <a:avLst/>
          </a:prstGeom>
          <a:solidFill>
            <a:srgbClr val="00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36393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⚡  Web Vitals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0050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 dirty="0">
                <a:solidFill>
                  <a:srgbClr val="AAFFCC"/>
                </a:solidFill>
                <a:latin typeface="Calibri"/>
              </a:rPr>
              <a:t>POST /</a:t>
            </a:r>
            <a:r>
              <a:rPr sz="950" b="0" i="1" dirty="0" err="1">
                <a:solidFill>
                  <a:srgbClr val="AAFFCC"/>
                </a:solidFill>
                <a:latin typeface="Calibri"/>
              </a:rPr>
              <a:t>api</a:t>
            </a:r>
            <a:r>
              <a:rPr sz="950" b="0" i="1" dirty="0">
                <a:solidFill>
                  <a:srgbClr val="AAFFCC"/>
                </a:solidFill>
                <a:latin typeface="Calibri"/>
              </a:rPr>
              <a:t>/telemetry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39" y="3566160"/>
            <a:ext cx="3749039" cy="1783080"/>
          </a:xfrm>
          <a:prstGeom prst="rect">
            <a:avLst/>
          </a:prstGeom>
          <a:solidFill>
            <a:srgbClr val="3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43399" y="36393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🟢  Health Probes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399" y="40050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FFCC"/>
                </a:solidFill>
                <a:latin typeface="Calibri"/>
              </a:rPr>
              <a:t>/livez  &amp;  /healthz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58" y="3566160"/>
            <a:ext cx="3749039" cy="1783080"/>
          </a:xfrm>
          <a:prstGeom prst="rect">
            <a:avLst/>
          </a:prstGeom>
          <a:solidFill>
            <a:srgbClr val="40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75318" y="36393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📋  Structured Logging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18" y="40050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FFCC"/>
                </a:solidFill>
                <a:latin typeface="Calibri"/>
              </a:rPr>
              <a:t>AUTOCHART_LOG_JSON=1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4320" y="655624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AutoChart · UKHO · </a:t>
            </a:r>
            <a:r>
              <a:rPr lang="en-GB" sz="900" b="0" i="0">
                <a:solidFill>
                  <a:srgbClr val="AABBCC"/>
                </a:solidFill>
                <a:latin typeface="Calibri"/>
              </a:rPr>
              <a:t>2026</a:t>
            </a:r>
            <a:endParaRPr sz="900" b="0" i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091672" y="6556248"/>
            <a:ext cx="1005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900" b="0" i="0">
                <a:solidFill>
                  <a:srgbClr val="AABBCC"/>
                </a:solidFill>
                <a:latin typeface="Calibri"/>
              </a:rPr>
              <a:t>7</a:t>
            </a:r>
            <a:r>
              <a:rPr sz="900" b="0" i="0">
                <a:solidFill>
                  <a:srgbClr val="AABBCC"/>
                </a:solidFill>
                <a:latin typeface="Calibri"/>
              </a:rPr>
              <a:t>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07  CI/CD &amp;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291840" cy="256032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Backend
(Python 3.13)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Ruff lint +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52344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mypy type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7296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pytest +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9359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75%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554480"/>
            <a:ext cx="3291840" cy="2560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16459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Frontend
(Node 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3172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ESLint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752344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Prettier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17296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Vitest (60% cov)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59359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Vite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0" y="1554480"/>
            <a:ext cx="3291840" cy="2560320"/>
          </a:xfrm>
          <a:prstGeom prst="rect">
            <a:avLst/>
          </a:prstGeom>
          <a:solidFill>
            <a:srgbClr val="50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16459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Docker
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33172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Multi-stage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52344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GHA layer 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17296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Tagged autochart:ci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9359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Blocked on prev. jobs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343400"/>
            <a:ext cx="11430000" cy="21031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4074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Test Coverage 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00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A"/>
                </a:solidFill>
                <a:latin typeface="Calibri"/>
              </a:rPr>
              <a:t>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pytest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test_data, test_api, test_mcp, test_security, test_overlap, test_observability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800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F37"/>
                </a:solidFill>
                <a:latin typeface="Calibri"/>
              </a:rPr>
              <a:t>75% overall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1480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A"/>
                </a:solidFill>
                <a:latin typeface="Calibri"/>
              </a:rP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148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Vitest + RTL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5148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ChatBot, MapView, MCPChat components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1480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F37"/>
                </a:solidFill>
                <a:latin typeface="Calibri"/>
              </a:rPr>
              <a:t>60% lines / 55% functions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4955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7A8A"/>
                </a:solidFill>
                <a:latin typeface="Calibri"/>
              </a:rPr>
              <a:t>E2E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4955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Playwright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4955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AACCEE"/>
                </a:solidFill>
                <a:latin typeface="Calibri"/>
              </a:rPr>
              <a:t>chatbot.spec.js — home, agent chatbot, REST + MCP health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4955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F37"/>
                </a:solidFill>
                <a:latin typeface="Calibri"/>
              </a:rPr>
              <a:t>Chrome Desktop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655624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CC"/>
                </a:solidFill>
                <a:latin typeface="Calibri"/>
              </a:rPr>
              <a:t>AutoChart</a:t>
            </a:r>
            <a:r>
              <a:rPr sz="900" b="0" i="0" dirty="0">
                <a:solidFill>
                  <a:srgbClr val="AABBCC"/>
                </a:solidFill>
                <a:latin typeface="Calibri"/>
              </a:rPr>
              <a:t> · UKHO · 202</a:t>
            </a:r>
            <a:r>
              <a:rPr lang="en-US" sz="900" b="0" i="0" dirty="0">
                <a:solidFill>
                  <a:srgbClr val="AABBCC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1672" y="6556248"/>
            <a:ext cx="1005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900" b="0" i="0">
                <a:solidFill>
                  <a:srgbClr val="AABBCC"/>
                </a:solidFill>
                <a:latin typeface="Calibri"/>
              </a:rPr>
              <a:t>8</a:t>
            </a:r>
            <a:r>
              <a:rPr sz="900" b="0" i="0">
                <a:solidFill>
                  <a:srgbClr val="AABBCC"/>
                </a:solidFill>
                <a:latin typeface="Calibri"/>
              </a:rPr>
              <a:t>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08 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394960" cy="297180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Multi-Stage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Stage 1: Node 22-alpine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npm ci  +  npm run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Outputs /frontend/dist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9806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Stage 2: Python 3.13-slim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Install libexpat1 + curl (runtime only)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649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Create non-root user 'app'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2102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UV installs Python deps (prod-only, no dev)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7705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COPY --from=web /frontend/dist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33087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Port 8000  •  CMD: uv run uvicorn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417320"/>
            <a:ext cx="5760720" cy="297180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1508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85C"/>
                </a:solidFill>
                <a:latin typeface="Calibri"/>
              </a:rPr>
              <a:t>docker-compose.yml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920240"/>
            <a:ext cx="5394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image: autochart:local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221992"/>
            <a:ext cx="5394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ports: 8000:8000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523744"/>
            <a:ext cx="5394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read_only: 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825496"/>
            <a:ext cx="5394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tmpfs: /tmp  (writable ephemeral zone)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127248"/>
            <a:ext cx="5394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restart: unless-stopped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429000"/>
            <a:ext cx="5394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healthcheck: curl -fsS /api/health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730752"/>
            <a:ext cx="5394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AUTOCHART_HOST: 0.0.0.0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032504"/>
            <a:ext cx="5394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AUTOCHART_ALLOWED_ORIGINS: configurable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26280"/>
            <a:ext cx="11384280" cy="192024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599432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Key Environment Variables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029200"/>
            <a:ext cx="142699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1050" b="1" i="0">
                <a:solidFill>
                  <a:srgbClr val="007A8A"/>
                </a:solidFill>
                <a:latin typeface="Calibri"/>
              </a:rPr>
              <a:t>AUTOCHART_API_KEY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7792" y="5029200"/>
            <a:ext cx="57099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1050" b="0" i="0">
                <a:solidFill>
                  <a:srgbClr val="D4AF37"/>
                </a:solidFill>
                <a:latin typeface="Calibri"/>
              </a:rPr>
              <a:t>(unset)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5029200"/>
            <a:ext cx="2005677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1050" b="0" i="0">
                <a:solidFill>
                  <a:srgbClr val="FFFFFF"/>
                </a:solidFill>
                <a:latin typeface="Calibri"/>
              </a:rPr>
              <a:t>Enables /api and /mcp key-gating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458968"/>
            <a:ext cx="155202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1050" b="1" i="0">
                <a:solidFill>
                  <a:srgbClr val="007A8A"/>
                </a:solidFill>
                <a:latin typeface="Calibri"/>
              </a:rPr>
              <a:t>AUTOCHART_LOG_JSON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7792" y="5458968"/>
            <a:ext cx="25359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1050" b="0" i="0">
                <a:solidFill>
                  <a:srgbClr val="D4AF37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5458968"/>
            <a:ext cx="165942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fr-FR" sz="1050" b="0" i="0">
                <a:solidFill>
                  <a:srgbClr val="FFFFFF"/>
                </a:solidFill>
                <a:latin typeface="Calibri"/>
              </a:rPr>
              <a:t>JSON vs console log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888736"/>
            <a:ext cx="145584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1050" b="1" i="0">
                <a:solidFill>
                  <a:srgbClr val="007A8A"/>
                </a:solidFill>
                <a:latin typeface="Calibri"/>
              </a:rPr>
              <a:t>AUTOCHART_METRICS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7792" y="5888736"/>
            <a:ext cx="25359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1050" b="0" i="0">
                <a:solidFill>
                  <a:srgbClr val="D4AF37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4448" y="5888736"/>
            <a:ext cx="175560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1050" b="0" i="0">
                <a:solidFill>
                  <a:srgbClr val="FFFFFF"/>
                </a:solidFill>
                <a:latin typeface="Calibri"/>
              </a:rPr>
              <a:t>Expose Prometheus /metrics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8192" y="5029200"/>
            <a:ext cx="213712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1050" b="1" i="0">
                <a:solidFill>
                  <a:srgbClr val="007A8A"/>
                </a:solidFill>
                <a:latin typeface="Calibri"/>
              </a:rPr>
              <a:t>OTEL_EXPORTER_OTLP_ENDPOINT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7072" y="5029200"/>
            <a:ext cx="57099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1050" b="0" i="0">
                <a:solidFill>
                  <a:srgbClr val="D4AF37"/>
                </a:solidFill>
                <a:latin typeface="Calibri"/>
              </a:rPr>
              <a:t>(unset)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5029200"/>
            <a:ext cx="179408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1050" b="0" i="0">
                <a:solidFill>
                  <a:srgbClr val="FFFFFF"/>
                </a:solidFill>
                <a:latin typeface="Calibri"/>
              </a:rPr>
              <a:t>OpenTelemetry collector URL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8192" y="5458968"/>
            <a:ext cx="92044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1050" b="1" i="0">
                <a:solidFill>
                  <a:srgbClr val="007A8A"/>
                </a:solidFill>
                <a:latin typeface="Calibri"/>
              </a:rPr>
              <a:t>SENTRY_DSN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7072" y="5458968"/>
            <a:ext cx="57099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1050" b="0" i="0">
                <a:solidFill>
                  <a:srgbClr val="D4AF37"/>
                </a:solidFill>
                <a:latin typeface="Calibri"/>
              </a:rPr>
              <a:t>(unset)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728" y="5458968"/>
            <a:ext cx="138691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1050" b="0" i="0">
                <a:solidFill>
                  <a:srgbClr val="FFFFFF"/>
                </a:solidFill>
                <a:latin typeface="Calibri"/>
              </a:rPr>
              <a:t>Sentry error reporting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08192" y="5888736"/>
            <a:ext cx="199125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1050" b="1" i="0">
                <a:solidFill>
                  <a:srgbClr val="007A8A"/>
                </a:solidFill>
                <a:latin typeface="Calibri"/>
              </a:rPr>
              <a:t>SENTRY_TRACES_SAMPLE_RATE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7072" y="5888736"/>
            <a:ext cx="35618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1050" b="0" i="0">
                <a:solidFill>
                  <a:srgbClr val="D4AF37"/>
                </a:solidFill>
                <a:latin typeface="Calibri"/>
              </a:rPr>
              <a:t>0.0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728" y="5888736"/>
            <a:ext cx="132279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1050" b="0" i="0">
                <a:solidFill>
                  <a:srgbClr val="FFFFFF"/>
                </a:solidFill>
                <a:latin typeface="Calibri"/>
              </a:rPr>
              <a:t>Trace sampling (0–1)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74320" y="655624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CC"/>
                </a:solidFill>
                <a:latin typeface="Calibri"/>
              </a:rPr>
              <a:t>AutoChart</a:t>
            </a:r>
            <a:r>
              <a:rPr sz="900" b="0" i="0" dirty="0">
                <a:solidFill>
                  <a:srgbClr val="AABBCC"/>
                </a:solidFill>
                <a:latin typeface="Calibri"/>
              </a:rPr>
              <a:t> · UKHO · 202</a:t>
            </a:r>
            <a:r>
              <a:rPr lang="en-US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091672" y="6556248"/>
            <a:ext cx="1005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900" b="0" i="0">
                <a:solidFill>
                  <a:srgbClr val="AABBCC"/>
                </a:solidFill>
                <a:latin typeface="Calibri"/>
              </a:rPr>
              <a:t>9</a:t>
            </a:r>
            <a:r>
              <a:rPr sz="900" b="0" i="0">
                <a:solidFill>
                  <a:srgbClr val="AABBCC"/>
                </a:solidFill>
                <a:latin typeface="Calibri"/>
              </a:rPr>
              <a:t>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374FB-8C6F-9E4C-95F9-518A5CCF5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7B65C1-3722-152D-5189-974AE340C1C4}"/>
              </a:ext>
            </a:extLst>
          </p:cNvPr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DC5073-130D-76FA-1FA6-A157F15F796A}"/>
              </a:ext>
            </a:extLst>
          </p:cNvPr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67786A-CCB9-3C02-4E69-88F2431288E8}"/>
              </a:ext>
            </a:extLst>
          </p:cNvPr>
          <p:cNvSpPr txBox="1"/>
          <p:nvPr/>
        </p:nvSpPr>
        <p:spPr>
          <a:xfrm>
            <a:off x="457200" y="256032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  <a:latin typeface="Calibri"/>
              </a:rPr>
              <a:t>0</a:t>
            </a:r>
            <a:r>
              <a:rPr lang="en-GB" sz="3400" b="1" i="0" dirty="0">
                <a:solidFill>
                  <a:srgbClr val="FFFFFF"/>
                </a:solidFill>
                <a:latin typeface="Calibri"/>
              </a:rPr>
              <a:t>9</a:t>
            </a:r>
            <a:r>
              <a:rPr sz="3400" b="1" i="0" dirty="0">
                <a:solidFill>
                  <a:srgbClr val="FFFFFF"/>
                </a:solidFill>
                <a:latin typeface="Calibri"/>
              </a:rPr>
              <a:t>  </a:t>
            </a:r>
            <a:r>
              <a:rPr lang="en-GB" sz="3400" b="1" i="0" dirty="0">
                <a:solidFill>
                  <a:srgbClr val="FFFFFF"/>
                </a:solidFill>
                <a:latin typeface="Calibri"/>
              </a:rPr>
              <a:t>Observability</a:t>
            </a:r>
            <a:endParaRPr sz="3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D8FB05-E65C-FD6F-60DD-858301FBC96D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124308-E425-E1F6-A015-A77C173FBD3E}"/>
              </a:ext>
            </a:extLst>
          </p:cNvPr>
          <p:cNvSpPr txBox="1"/>
          <p:nvPr/>
        </p:nvSpPr>
        <p:spPr>
          <a:xfrm>
            <a:off x="274320" y="655624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CC"/>
                </a:solidFill>
                <a:latin typeface="Calibri"/>
              </a:rPr>
              <a:t>AutoChart</a:t>
            </a:r>
            <a:r>
              <a:rPr sz="900" b="0" i="0" dirty="0">
                <a:solidFill>
                  <a:srgbClr val="AABBCC"/>
                </a:solidFill>
                <a:latin typeface="Calibri"/>
              </a:rPr>
              <a:t> · UKHO · 202</a:t>
            </a:r>
            <a:r>
              <a:rPr lang="en-US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5F2146-ED96-036E-546B-11F05F10199B}"/>
              </a:ext>
            </a:extLst>
          </p:cNvPr>
          <p:cNvSpPr txBox="1"/>
          <p:nvPr/>
        </p:nvSpPr>
        <p:spPr>
          <a:xfrm>
            <a:off x="11091672" y="6556248"/>
            <a:ext cx="1005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900" b="0" i="0">
                <a:solidFill>
                  <a:srgbClr val="AABBCC"/>
                </a:solidFill>
                <a:latin typeface="Calibri"/>
              </a:rPr>
              <a:t>9</a:t>
            </a:r>
            <a:r>
              <a:rPr sz="900" b="0" i="0">
                <a:solidFill>
                  <a:srgbClr val="AABBCC"/>
                </a:solidFill>
                <a:latin typeface="Calibri"/>
              </a:rPr>
              <a:t> / 10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82F6F63-3465-E28E-2381-6593213B4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0935"/>
            <a:ext cx="10128797" cy="520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938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20D0D-D5B1-60A3-FF3F-5928ED79C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ECC86C-47F9-93B8-C5C3-D37944623E59}"/>
              </a:ext>
            </a:extLst>
          </p:cNvPr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7D0809-E873-7E23-84FD-9B78BF68C636}"/>
              </a:ext>
            </a:extLst>
          </p:cNvPr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CB47B-623A-351E-E677-1ACF51B38BD3}"/>
              </a:ext>
            </a:extLst>
          </p:cNvPr>
          <p:cNvSpPr txBox="1"/>
          <p:nvPr/>
        </p:nvSpPr>
        <p:spPr>
          <a:xfrm>
            <a:off x="457200" y="256032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  <a:latin typeface="Calibri"/>
              </a:rPr>
              <a:t>0</a:t>
            </a:r>
            <a:r>
              <a:rPr lang="en-GB" sz="3400" b="1" i="0" dirty="0">
                <a:solidFill>
                  <a:srgbClr val="FFFFFF"/>
                </a:solidFill>
                <a:latin typeface="Calibri"/>
              </a:rPr>
              <a:t>9</a:t>
            </a:r>
            <a:r>
              <a:rPr sz="3400" b="1" i="0" dirty="0">
                <a:solidFill>
                  <a:srgbClr val="FFFFFF"/>
                </a:solidFill>
                <a:latin typeface="Calibri"/>
              </a:rPr>
              <a:t>  </a:t>
            </a:r>
            <a:r>
              <a:rPr lang="en-GB" sz="3400" b="1" i="0" dirty="0">
                <a:solidFill>
                  <a:srgbClr val="FFFFFF"/>
                </a:solidFill>
                <a:latin typeface="Calibri"/>
              </a:rPr>
              <a:t>App Page</a:t>
            </a:r>
            <a:endParaRPr sz="3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A16CD97-0D8A-482F-7345-79B0D2D5AD7F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5565B5-52AC-D457-0724-0FCFBD15833F}"/>
              </a:ext>
            </a:extLst>
          </p:cNvPr>
          <p:cNvSpPr txBox="1"/>
          <p:nvPr/>
        </p:nvSpPr>
        <p:spPr>
          <a:xfrm>
            <a:off x="274320" y="655624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CC"/>
                </a:solidFill>
                <a:latin typeface="Calibri"/>
              </a:rPr>
              <a:t>AutoChart</a:t>
            </a:r>
            <a:r>
              <a:rPr sz="900" b="0" i="0" dirty="0">
                <a:solidFill>
                  <a:srgbClr val="AABBCC"/>
                </a:solidFill>
                <a:latin typeface="Calibri"/>
              </a:rPr>
              <a:t> · UKHO · 202</a:t>
            </a:r>
            <a:r>
              <a:rPr lang="en-US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70DD08-9950-2041-7D00-6E5AD80B4223}"/>
              </a:ext>
            </a:extLst>
          </p:cNvPr>
          <p:cNvSpPr txBox="1"/>
          <p:nvPr/>
        </p:nvSpPr>
        <p:spPr>
          <a:xfrm>
            <a:off x="11091672" y="6556248"/>
            <a:ext cx="1005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900" b="0" i="0">
                <a:solidFill>
                  <a:srgbClr val="AABBCC"/>
                </a:solidFill>
                <a:latin typeface="Calibri"/>
              </a:rPr>
              <a:t>9</a:t>
            </a:r>
            <a:r>
              <a:rPr sz="900" b="0" i="0">
                <a:solidFill>
                  <a:srgbClr val="AABBCC"/>
                </a:solidFill>
                <a:latin typeface="Calibri"/>
              </a:rPr>
              <a:t> / 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F8F921-6702-D187-EEBB-C8583E4DC2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69"/>
          <a:stretch>
            <a:fillRect/>
          </a:stretch>
        </p:blipFill>
        <p:spPr>
          <a:xfrm>
            <a:off x="73573" y="1313427"/>
            <a:ext cx="5104852" cy="37200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7064A3-6568-8A0D-D178-1DF5549C3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582" y="4268757"/>
            <a:ext cx="4149738" cy="22804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379EE7-BC02-BC8E-375F-DB8C48529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582" y="1362053"/>
            <a:ext cx="4500202" cy="284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1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21300000">
            <a:off x="-914400" y="3474720"/>
            <a:ext cx="13716000" cy="128016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21300000">
            <a:off x="-914400" y="4206240"/>
            <a:ext cx="13716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What Was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🗺️ Map +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Interactive Leaflet map + NL chatbot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37160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4630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🤖 MCP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7-tool JSON-RPC 2.0 AI interface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37160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14630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🔒 Secure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API key, CORS, Docker hardening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0604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6974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📈 Full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54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Prometheus · OTEL · Sentry · Web Vitals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60604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26974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✅ CI/CD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154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Lint · Type · Test · Build · Docker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260604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2440" y="26974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📦 One container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154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FastAPI serves SPA + REST +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1247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 dirty="0">
                <a:solidFill>
                  <a:srgbClr val="D4AF37"/>
                </a:solidFill>
                <a:latin typeface="Calibri"/>
              </a:rPr>
              <a:t>AutoChart — from manual shapefile comparison to a full-stack,
observability-ready geospatial platform.</a:t>
            </a:r>
            <a:endParaRPr lang="en-GB" sz="1500" b="0" i="1" dirty="0">
              <a:solidFill>
                <a:srgbClr val="D4AF37"/>
              </a:solidFill>
              <a:latin typeface="Calibri"/>
            </a:endParaRPr>
          </a:p>
          <a:p>
            <a:pPr algn="ctr"/>
            <a:r>
              <a:rPr lang="en-GB" sz="1400" i="1" u="none">
                <a:solidFill>
                  <a:srgbClr val="AABBCC"/>
                </a:solidFill>
                <a:latin typeface="Calibri"/>
              </a:rPr>
              <a:t>Repository: github.com/iNileshW/AutoChart</a:t>
            </a:r>
            <a:endParaRPr sz="1500" b="0" i="1" dirty="0">
              <a:solidFill>
                <a:srgbClr val="D4AF37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091672" y="6556248"/>
            <a:ext cx="1005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AABBCC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52d287b-af50-4fcf-9040-106ecb50d969}" enabled="1" method="Standard" siteId="{cf6d0482-86b1-4f88-8c0c-3b4de4cb402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1286</Words>
  <Application>Microsoft Office PowerPoint</Application>
  <PresentationFormat>Custom</PresentationFormat>
  <Paragraphs>215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Nilesh Wairagade</cp:lastModifiedBy>
  <cp:revision>10</cp:revision>
  <dcterms:created xsi:type="dcterms:W3CDTF">2013-01-27T09:14:16Z</dcterms:created>
  <dcterms:modified xsi:type="dcterms:W3CDTF">2026-08-06T14:56:02Z</dcterms:modified>
  <cp:category/>
</cp:coreProperties>
</file>